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00" y="10134600"/>
            <a:ext cx="13716000" cy="152400"/>
          </a:xfrm>
          <a:custGeom>
            <a:avLst/>
            <a:gdLst/>
            <a:ahLst/>
            <a:cxnLst/>
            <a:rect r="r" b="b" t="t" l="l"/>
            <a:pathLst>
              <a:path h="152400" w="137160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1" r="0" b="-39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134600"/>
            <a:ext cx="3898078" cy="152400"/>
          </a:xfrm>
          <a:custGeom>
            <a:avLst/>
            <a:gdLst/>
            <a:ahLst/>
            <a:cxnLst/>
            <a:rect r="r" b="b" t="t" l="l"/>
            <a:pathLst>
              <a:path h="152400" w="3898078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6081" b="-184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89922" y="10134600"/>
            <a:ext cx="3898078" cy="158248"/>
          </a:xfrm>
          <a:custGeom>
            <a:avLst/>
            <a:gdLst/>
            <a:ahLst/>
            <a:cxnLst/>
            <a:rect r="r" b="b" t="t" l="l"/>
            <a:pathLst>
              <a:path h="158248" w="389807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0885" b="-184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46422" y="1127274"/>
            <a:ext cx="5893203" cy="1999859"/>
          </a:xfrm>
          <a:custGeom>
            <a:avLst/>
            <a:gdLst/>
            <a:ahLst/>
            <a:cxnLst/>
            <a:rect r="r" b="b" t="t" l="l"/>
            <a:pathLst>
              <a:path h="1999859" w="5893203">
                <a:moveTo>
                  <a:pt x="0" y="0"/>
                </a:moveTo>
                <a:lnTo>
                  <a:pt x="5893203" y="0"/>
                </a:lnTo>
                <a:lnTo>
                  <a:pt x="5893203" y="1999860"/>
                </a:lnTo>
                <a:lnTo>
                  <a:pt x="0" y="199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935" t="-264897" r="-89067" b="-26542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752951"/>
            <a:ext cx="15774000" cy="3136492"/>
            <a:chOff x="0" y="0"/>
            <a:chExt cx="21032000" cy="4181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2000" cy="4181989"/>
            </a:xfrm>
            <a:custGeom>
              <a:avLst/>
              <a:gdLst/>
              <a:ahLst/>
              <a:cxnLst/>
              <a:rect r="r" b="b" t="t" l="l"/>
              <a:pathLst>
                <a:path h="4181989" w="21032000">
                  <a:moveTo>
                    <a:pt x="0" y="0"/>
                  </a:moveTo>
                  <a:lnTo>
                    <a:pt x="21032000" y="0"/>
                  </a:lnTo>
                  <a:lnTo>
                    <a:pt x="21032000" y="4181989"/>
                  </a:lnTo>
                  <a:lnTo>
                    <a:pt x="0" y="41819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432" r="0" b="-195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21032000" cy="41438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Safety-Enhanced UAV Path Planning </a:t>
              </a:r>
              <a:r>
                <a:rPr lang="en-US" sz="6600" b="true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Using Spherical Vector-Based Particle Swarm Optimization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00" y="10134600"/>
            <a:ext cx="13716000" cy="152400"/>
          </a:xfrm>
          <a:custGeom>
            <a:avLst/>
            <a:gdLst/>
            <a:ahLst/>
            <a:cxnLst/>
            <a:rect r="r" b="b" t="t" l="l"/>
            <a:pathLst>
              <a:path h="152400" w="137160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1" r="0" b="-39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134600"/>
            <a:ext cx="3898078" cy="152400"/>
          </a:xfrm>
          <a:custGeom>
            <a:avLst/>
            <a:gdLst/>
            <a:ahLst/>
            <a:cxnLst/>
            <a:rect r="r" b="b" t="t" l="l"/>
            <a:pathLst>
              <a:path h="152400" w="3898078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6081" b="-184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89922" y="10134600"/>
            <a:ext cx="3898078" cy="158248"/>
          </a:xfrm>
          <a:custGeom>
            <a:avLst/>
            <a:gdLst/>
            <a:ahLst/>
            <a:cxnLst/>
            <a:rect r="r" b="b" t="t" l="l"/>
            <a:pathLst>
              <a:path h="158248" w="389807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0885" b="-184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8220" y="9058418"/>
            <a:ext cx="2048723" cy="898484"/>
          </a:xfrm>
          <a:custGeom>
            <a:avLst/>
            <a:gdLst/>
            <a:ahLst/>
            <a:cxnLst/>
            <a:rect r="r" b="b" t="t" l="l"/>
            <a:pathLst>
              <a:path h="898484" w="2048723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  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755754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01/07/19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Safety-Enhanced UAV Path Planning Using SPSO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509495"/>
            <a:ext cx="7773591" cy="3057525"/>
            <a:chOff x="0" y="0"/>
            <a:chExt cx="10364788" cy="407670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33350"/>
              <a:ext cx="8448358" cy="1198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19"/>
                </a:lnSpc>
              </a:pPr>
              <a:r>
                <a:rPr lang="en-US" sz="5299">
                  <a:solidFill>
                    <a:srgbClr val="7D191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domain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477857"/>
              <a:ext cx="10364788" cy="2598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Autonomous UAV navigation</a:t>
              </a:r>
            </a:p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Urban and complex environments</a:t>
              </a:r>
            </a:p>
            <a:p>
              <a:pPr algn="l">
                <a:lnSpc>
                  <a:spcPts val="51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3683" y="5560152"/>
            <a:ext cx="11532233" cy="3645586"/>
            <a:chOff x="0" y="0"/>
            <a:chExt cx="15376310" cy="486078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402617" y="-133350"/>
              <a:ext cx="14814983" cy="1198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419"/>
                </a:lnSpc>
              </a:pPr>
              <a:r>
                <a:rPr lang="en-US" sz="5299">
                  <a:solidFill>
                    <a:srgbClr val="7D191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Uncertainty Exists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85638"/>
              <a:ext cx="15376310" cy="3475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Imperfect terrain and obstacle information</a:t>
              </a:r>
            </a:p>
            <a:p>
              <a:pPr algn="just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Environmental disturbances affecting UAV motion</a:t>
              </a:r>
            </a:p>
            <a:p>
              <a:pPr algn="just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Safety margins must account for unknown risks</a:t>
              </a:r>
            </a:p>
            <a:p>
              <a:pPr algn="just">
                <a:lnSpc>
                  <a:spcPts val="51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42621" y="2509495"/>
            <a:ext cx="9183581" cy="4199925"/>
            <a:chOff x="0" y="0"/>
            <a:chExt cx="12244775" cy="559990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11050773" cy="1179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7D191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Real-World Motivation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9560" y="1248456"/>
              <a:ext cx="12165215" cy="4351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AVs are widely used in logistics, surveillance, and rescue</a:t>
              </a:r>
            </a:p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Safe navigation is critical in environments with obstacles and terrain variations</a:t>
              </a:r>
            </a:p>
            <a:p>
              <a:pPr algn="l">
                <a:lnSpc>
                  <a:spcPts val="51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63283" y="-146263"/>
            <a:ext cx="12224717" cy="10287000"/>
          </a:xfrm>
          <a:custGeom>
            <a:avLst/>
            <a:gdLst/>
            <a:ahLst/>
            <a:cxnLst/>
            <a:rect r="r" b="b" t="t" l="l"/>
            <a:pathLst>
              <a:path h="10287000" w="12224717">
                <a:moveTo>
                  <a:pt x="0" y="0"/>
                </a:moveTo>
                <a:lnTo>
                  <a:pt x="12224717" y="0"/>
                </a:lnTo>
                <a:lnTo>
                  <a:pt x="122247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6781" y="366817"/>
            <a:ext cx="5041515" cy="527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Path Planning Performance Comparison in Complex Terrain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00" y="10134600"/>
            <a:ext cx="13716000" cy="152400"/>
          </a:xfrm>
          <a:custGeom>
            <a:avLst/>
            <a:gdLst/>
            <a:ahLst/>
            <a:cxnLst/>
            <a:rect r="r" b="b" t="t" l="l"/>
            <a:pathLst>
              <a:path h="152400" w="137160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1" r="0" b="-39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134600"/>
            <a:ext cx="3898078" cy="152400"/>
          </a:xfrm>
          <a:custGeom>
            <a:avLst/>
            <a:gdLst/>
            <a:ahLst/>
            <a:cxnLst/>
            <a:rect r="r" b="b" t="t" l="l"/>
            <a:pathLst>
              <a:path h="152400" w="3898078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6081" b="-184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89922" y="10134600"/>
            <a:ext cx="3898078" cy="158248"/>
          </a:xfrm>
          <a:custGeom>
            <a:avLst/>
            <a:gdLst/>
            <a:ahLst/>
            <a:cxnLst/>
            <a:rect r="r" b="b" t="t" l="l"/>
            <a:pathLst>
              <a:path h="158248" w="389807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0885" b="-184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8220" y="9058418"/>
            <a:ext cx="2048723" cy="898484"/>
          </a:xfrm>
          <a:custGeom>
            <a:avLst/>
            <a:gdLst/>
            <a:ahLst/>
            <a:cxnLst/>
            <a:rect r="r" b="b" t="t" l="l"/>
            <a:pathLst>
              <a:path h="898484" w="2048723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755754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01/07/19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1454" y="2695803"/>
            <a:ext cx="7886700" cy="5056303"/>
            <a:chOff x="0" y="0"/>
            <a:chExt cx="10515600" cy="674173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00803"/>
              <a:ext cx="10515600" cy="5440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9" indent="-399415" lvl="1">
                <a:lnSpc>
                  <a:spcPts val="3995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compute a safe, feasible, and optimal UAV flight path</a:t>
              </a:r>
            </a:p>
            <a:p>
              <a:pPr algn="l">
                <a:lnSpc>
                  <a:spcPts val="3995"/>
                </a:lnSpc>
              </a:pPr>
            </a:p>
            <a:p>
              <a:pPr algn="l" marL="798829" indent="-399415" lvl="1">
                <a:lnSpc>
                  <a:spcPts val="3995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Optimization considers:</a:t>
              </a:r>
            </a:p>
            <a:p>
              <a:pPr algn="l" marL="1597659" indent="-532553" lvl="2">
                <a:lnSpc>
                  <a:spcPts val="3995"/>
                </a:lnSpc>
                <a:buFont typeface="Arial"/>
                <a:buChar char="⚬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Path length</a:t>
              </a:r>
            </a:p>
            <a:p>
              <a:pPr algn="l" marL="1597659" indent="-532553" lvl="2">
                <a:lnSpc>
                  <a:spcPts val="3995"/>
                </a:lnSpc>
                <a:buFont typeface="Arial"/>
                <a:buChar char="⚬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Obstacle avoidance</a:t>
              </a:r>
            </a:p>
            <a:p>
              <a:pPr algn="l" marL="1597659" indent="-532553" lvl="2">
                <a:lnSpc>
                  <a:spcPts val="3995"/>
                </a:lnSpc>
                <a:buFont typeface="Arial"/>
                <a:buChar char="⚬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Smoothness of motion</a:t>
              </a:r>
            </a:p>
            <a:p>
              <a:pPr algn="l" marL="1597659" indent="-532553" lvl="2">
                <a:lnSpc>
                  <a:spcPts val="3995"/>
                </a:lnSpc>
                <a:buFont typeface="Arial"/>
                <a:buChar char="⚬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Altitude and turning constraints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43840" y="-133350"/>
              <a:ext cx="7428713" cy="1198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19"/>
                </a:lnSpc>
              </a:pPr>
              <a:r>
                <a:rPr lang="en-US" sz="5299">
                  <a:solidFill>
                    <a:srgbClr val="7D191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72706" y="2695803"/>
            <a:ext cx="9015294" cy="3332405"/>
            <a:chOff x="0" y="0"/>
            <a:chExt cx="12020392" cy="444320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2347309" y="-133350"/>
              <a:ext cx="9319909" cy="1198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19"/>
                </a:lnSpc>
              </a:pPr>
              <a:r>
                <a:rPr lang="en-US" sz="5299">
                  <a:solidFill>
                    <a:srgbClr val="7D191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Scope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96028"/>
              <a:ext cx="12020392" cy="324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Offline path planning</a:t>
              </a:r>
            </a:p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Static obstacles and terrain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UAV motion constraints explicitly considered</a:t>
              </a:r>
            </a:p>
            <a:p>
              <a:pPr algn="l">
                <a:lnSpc>
                  <a:spcPts val="47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Objective and Scope.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124483" y="6062871"/>
            <a:ext cx="5163517" cy="4071729"/>
          </a:xfrm>
          <a:custGeom>
            <a:avLst/>
            <a:gdLst/>
            <a:ahLst/>
            <a:cxnLst/>
            <a:rect r="r" b="b" t="t" l="l"/>
            <a:pathLst>
              <a:path h="4071729" w="5163517">
                <a:moveTo>
                  <a:pt x="0" y="0"/>
                </a:moveTo>
                <a:lnTo>
                  <a:pt x="5163517" y="0"/>
                </a:lnTo>
                <a:lnTo>
                  <a:pt x="5163517" y="4071729"/>
                </a:lnTo>
                <a:lnTo>
                  <a:pt x="0" y="4071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System Overview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794" y="3523784"/>
            <a:ext cx="11940226" cy="394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environment data (terrain, threats)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 UAV path using waypoints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path cost using multiple criteria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path using SPSO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optimal UAV trajectory</a:t>
            </a:r>
          </a:p>
          <a:p>
            <a:pPr algn="l">
              <a:lnSpc>
                <a:spcPts val="51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End-to-End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5054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insight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94" y="8352959"/>
            <a:ext cx="11106865" cy="131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planning is treated as a decision-making problem.</a:t>
            </a:r>
          </a:p>
          <a:p>
            <a:pPr algn="ctr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00" y="10134600"/>
            <a:ext cx="13716000" cy="152400"/>
          </a:xfrm>
          <a:custGeom>
            <a:avLst/>
            <a:gdLst/>
            <a:ahLst/>
            <a:cxnLst/>
            <a:rect r="r" b="b" t="t" l="l"/>
            <a:pathLst>
              <a:path h="152400" w="137160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1" r="0" b="-39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134600"/>
            <a:ext cx="3898078" cy="152400"/>
          </a:xfrm>
          <a:custGeom>
            <a:avLst/>
            <a:gdLst/>
            <a:ahLst/>
            <a:cxnLst/>
            <a:rect r="r" b="b" t="t" l="l"/>
            <a:pathLst>
              <a:path h="152400" w="3898078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6081" b="-184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89922" y="10134600"/>
            <a:ext cx="3898078" cy="158248"/>
          </a:xfrm>
          <a:custGeom>
            <a:avLst/>
            <a:gdLst/>
            <a:ahLst/>
            <a:cxnLst/>
            <a:rect r="r" b="b" t="t" l="l"/>
            <a:pathLst>
              <a:path h="158248" w="389807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0885" b="-184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8220" y="9058418"/>
            <a:ext cx="2048723" cy="898484"/>
          </a:xfrm>
          <a:custGeom>
            <a:avLst/>
            <a:gdLst/>
            <a:ahLst/>
            <a:cxnLst/>
            <a:rect r="r" b="b" t="t" l="l"/>
            <a:pathLst>
              <a:path h="898484" w="2048723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755754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01/07/19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Sources of Uncertainty in the Project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509495"/>
            <a:ext cx="8115796" cy="3034030"/>
            <a:chOff x="0" y="0"/>
            <a:chExt cx="10821062" cy="404537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10821062" cy="1157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39"/>
                </a:lnSpc>
              </a:pPr>
              <a:r>
                <a:rPr lang="en-US" sz="5100" b="true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Environmental Uncertainty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446530"/>
              <a:ext cx="10364788" cy="2598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Terrain elevation approximation</a:t>
              </a:r>
            </a:p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bstacle influence regions</a:t>
              </a:r>
            </a:p>
            <a:p>
              <a:pPr algn="l">
                <a:lnSpc>
                  <a:spcPts val="51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5475580"/>
            <a:ext cx="11413200" cy="2854376"/>
            <a:chOff x="0" y="0"/>
            <a:chExt cx="15217600" cy="380583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402617" y="-123825"/>
              <a:ext cx="14814983" cy="1157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39"/>
                </a:lnSpc>
              </a:pPr>
              <a:r>
                <a:rPr lang="en-US" sz="5100" b="true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Measurement Uncertainty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54311"/>
              <a:ext cx="11833506" cy="2451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GPS position er</a:t>
              </a: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ror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Altitude estimation error</a:t>
              </a:r>
            </a:p>
            <a:p>
              <a:pPr algn="just">
                <a:lnSpc>
                  <a:spcPts val="47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188097" y="2432898"/>
            <a:ext cx="8288079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Modeling Uncertainty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3652" y="3334385"/>
            <a:ext cx="7775648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U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 dynamics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safety margins</a:t>
            </a:r>
          </a:p>
          <a:p>
            <a:pPr algn="l">
              <a:lnSpc>
                <a:spcPts val="5179"/>
              </a:lnSpc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825628" y="4894792"/>
            <a:ext cx="8439959" cy="5239808"/>
          </a:xfrm>
          <a:custGeom>
            <a:avLst/>
            <a:gdLst/>
            <a:ahLst/>
            <a:cxnLst/>
            <a:rect r="r" b="b" t="t" l="l"/>
            <a:pathLst>
              <a:path h="5239808" w="8439959">
                <a:moveTo>
                  <a:pt x="0" y="0"/>
                </a:moveTo>
                <a:lnTo>
                  <a:pt x="8439959" y="0"/>
                </a:lnTo>
                <a:lnTo>
                  <a:pt x="8439959" y="5239808"/>
                </a:lnTo>
                <a:lnTo>
                  <a:pt x="0" y="5239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Random Variables and Their Roles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68082" y="3444980"/>
            <a:ext cx="14139026" cy="32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dₖ: Distance from UAV path to obstacle k  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θ, ϕ: Turning and climbing angles  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C(P): Combined measure of distance, safety, and smoothness  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Xᵢ: Candidate UAV path in the swarm.  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F(Xᵢ): Evaluated cost of a candidate path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13110326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Key Random Variables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094" y="7042460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in the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8836" y="8053380"/>
            <a:ext cx="12884944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variables determine safety, feasibility, and efficiency of a path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000" y="10134600"/>
            <a:ext cx="13716000" cy="152400"/>
          </a:xfrm>
          <a:custGeom>
            <a:avLst/>
            <a:gdLst/>
            <a:ahLst/>
            <a:cxnLst/>
            <a:rect r="r" b="b" t="t" l="l"/>
            <a:pathLst>
              <a:path h="152400" w="13716000">
                <a:moveTo>
                  <a:pt x="0" y="0"/>
                </a:moveTo>
                <a:lnTo>
                  <a:pt x="13716000" y="0"/>
                </a:lnTo>
                <a:lnTo>
                  <a:pt x="1371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1" r="0" b="-39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134600"/>
            <a:ext cx="3898078" cy="152400"/>
          </a:xfrm>
          <a:custGeom>
            <a:avLst/>
            <a:gdLst/>
            <a:ahLst/>
            <a:cxnLst/>
            <a:rect r="r" b="b" t="t" l="l"/>
            <a:pathLst>
              <a:path h="152400" w="3898078">
                <a:moveTo>
                  <a:pt x="0" y="0"/>
                </a:moveTo>
                <a:lnTo>
                  <a:pt x="3898078" y="0"/>
                </a:lnTo>
                <a:lnTo>
                  <a:pt x="3898078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6081" b="-184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89922" y="10134600"/>
            <a:ext cx="3898078" cy="158248"/>
          </a:xfrm>
          <a:custGeom>
            <a:avLst/>
            <a:gdLst/>
            <a:ahLst/>
            <a:cxnLst/>
            <a:rect r="r" b="b" t="t" l="l"/>
            <a:pathLst>
              <a:path h="158248" w="3898078">
                <a:moveTo>
                  <a:pt x="0" y="0"/>
                </a:moveTo>
                <a:lnTo>
                  <a:pt x="3898078" y="0"/>
                </a:lnTo>
                <a:lnTo>
                  <a:pt x="3898078" y="158248"/>
                </a:lnTo>
                <a:lnTo>
                  <a:pt x="0" y="15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0885" b="-184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8220" y="9058418"/>
            <a:ext cx="2048723" cy="898484"/>
          </a:xfrm>
          <a:custGeom>
            <a:avLst/>
            <a:gdLst/>
            <a:ahLst/>
            <a:cxnLst/>
            <a:rect r="r" b="b" t="t" l="l"/>
            <a:pathLst>
              <a:path h="898484" w="2048723">
                <a:moveTo>
                  <a:pt x="0" y="0"/>
                </a:moveTo>
                <a:lnTo>
                  <a:pt x="2048722" y="0"/>
                </a:lnTo>
                <a:lnTo>
                  <a:pt x="2048722" y="898484"/>
                </a:lnTo>
                <a:lnTo>
                  <a:pt x="0" y="898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71" t="-164493" r="-72155" b="-16485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2246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755754" cy="773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01/07/19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3003533"/>
            <a:ext cx="7886700" cy="3922557"/>
            <a:chOff x="0" y="0"/>
            <a:chExt cx="10515600" cy="523007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885658"/>
              <a:ext cx="10515600" cy="334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9" indent="-399415" lvl="1">
                <a:lnSpc>
                  <a:spcPts val="3995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Deterministic optimization used as a proxy for probab</a:t>
              </a: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ilistic s</a:t>
              </a: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afety</a:t>
              </a:r>
            </a:p>
            <a:p>
              <a:pPr algn="l">
                <a:lnSpc>
                  <a:spcPts val="3888"/>
                </a:lnSpc>
              </a:pPr>
            </a:p>
            <a:p>
              <a:pPr algn="l" marL="777240" indent="-388620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afety margins act as implicit uncertainty buffers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43840" y="-133350"/>
              <a:ext cx="8826333" cy="1198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19"/>
                </a:lnSpc>
              </a:pPr>
              <a:r>
                <a:rPr lang="en-US" sz="5299" b="true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Modeling Approach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8097" y="3003533"/>
            <a:ext cx="8740888" cy="5132630"/>
            <a:chOff x="0" y="0"/>
            <a:chExt cx="11654517" cy="684350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2334609" y="-133350"/>
              <a:ext cx="9319909" cy="1198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19"/>
                </a:lnSpc>
              </a:pPr>
              <a:r>
                <a:rPr lang="en-US" sz="5299" b="true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Assumptions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96028"/>
              <a:ext cx="11654517" cy="5647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Obstacles are static</a:t>
              </a:r>
            </a:p>
            <a:p>
              <a:pPr algn="l">
                <a:lnSpc>
                  <a:spcPts val="4759"/>
                </a:lnSpc>
              </a:pPr>
            </a:p>
            <a:p>
              <a:pPr algn="l" marL="798828" indent="-399414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Safety distances absorb uncertai</a:t>
              </a:r>
              <a:r>
                <a:rPr lang="en-US" sz="3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nty</a:t>
              </a:r>
            </a:p>
            <a:p>
              <a:pPr algn="l">
                <a:lnSpc>
                  <a:spcPts val="4759"/>
                </a:lnSpc>
              </a:pP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Paths</a:t>
              </a: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violating constraints are rejected</a:t>
              </a:r>
            </a:p>
            <a:p>
              <a:pPr algn="l">
                <a:lnSpc>
                  <a:spcPts val="4759"/>
                </a:lnSpc>
              </a:pPr>
            </a:p>
            <a:p>
              <a:pPr algn="l">
                <a:lnSpc>
                  <a:spcPts val="47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Probabilistic Models and Assumptions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Probabilistic Reasoning and Inference Logic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794" y="3523784"/>
            <a:ext cx="11940226" cy="32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multiple candidate paths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each path under safety and motion constraints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higher cost to risky paths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 paths with lower expected risk</a:t>
            </a:r>
          </a:p>
          <a:p>
            <a:pPr algn="l">
              <a:lnSpc>
                <a:spcPts val="51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Reasoning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677829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Interpretation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94" y="7695734"/>
            <a:ext cx="16209567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</a:t>
            </a: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implicitly reasons under uncertainty by penalizing unsafe outcomes</a:t>
            </a:r>
          </a:p>
          <a:p>
            <a:pPr algn="l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Operationalizing the Reasoning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794" y="3402661"/>
            <a:ext cx="11940226" cy="394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Population-based search (PSO)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iterations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particles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evaluation using:</a:t>
            </a:r>
          </a:p>
          <a:p>
            <a:pPr algn="l" marL="1597656" indent="-532552" lvl="2">
              <a:lnSpc>
                <a:spcPts val="5179"/>
              </a:lnSpc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cost</a:t>
            </a:r>
          </a:p>
          <a:p>
            <a:pPr algn="l" marL="1597656" indent="-532552" lvl="2">
              <a:lnSpc>
                <a:spcPts val="5179"/>
              </a:lnSpc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</a:t>
            </a:r>
          </a:p>
          <a:p>
            <a:pPr algn="l" marL="1597656" indent="-532552" lvl="2">
              <a:lnSpc>
                <a:spcPts val="5179"/>
              </a:lnSpc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Repeated runs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It Is Implemented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94906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Rule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94" y="8412811"/>
            <a:ext cx="17672192" cy="131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with</a:t>
            </a: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minimum average cost is selected</a:t>
            </a:r>
          </a:p>
          <a:p>
            <a:pPr algn="l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Current Limitations and Conceptual Gaps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794" y="3523784"/>
            <a:ext cx="11940226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explicit probability distributions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environment assumption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 and dynamic obstacles ignored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Known 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50912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Conceptual Gaps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94" y="7399957"/>
            <a:ext cx="17672192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Uncertainty is indirectly handled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Bayesian or stochastic modeling</a:t>
            </a:r>
          </a:p>
          <a:p>
            <a:pPr algn="l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Planned Refinements and Role Coordination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794" y="3523784"/>
            <a:ext cx="11940226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Incorporating dyn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amic environments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abilistic obstacle modeling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Multi-objective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Extensions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50912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Coordination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94" y="7399957"/>
            <a:ext cx="17672192" cy="191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refinement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and</a:t>
            </a: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evaluation</a:t>
            </a:r>
          </a:p>
          <a:p>
            <a:pPr algn="l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20" y="230455"/>
            <a:ext cx="17299755" cy="1988344"/>
            <a:chOff x="0" y="0"/>
            <a:chExt cx="230663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6341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066341">
                  <a:moveTo>
                    <a:pt x="0" y="0"/>
                  </a:moveTo>
                  <a:lnTo>
                    <a:pt x="23066341" y="0"/>
                  </a:lnTo>
                  <a:lnTo>
                    <a:pt x="23066341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8822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066341" cy="26130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Summary of Group-Level Understanding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794" y="3281538"/>
            <a:ext cx="14134164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UAV path planning is a safety-critical decisio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problem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SPSO provides a feasible and robust optimization framework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eterministic constraints serve as risk-control mechanisms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0618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Takeaways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18139"/>
            <a:ext cx="9234368" cy="9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 b="true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Insight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94" y="7036044"/>
            <a:ext cx="16442664" cy="131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</a:t>
            </a:r>
            <a:r>
              <a:rPr lang="en-US" sz="36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optimization can effectively approximate uncertainty-aware decision-making in UAV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DAG5B3Y_t94</dc:identifier>
  <dcterms:modified xsi:type="dcterms:W3CDTF">2011-08-01T06:04:30Z</dcterms:modified>
  <cp:revision>1</cp:revision>
  <dc:title>M1_ppt</dc:title>
</cp:coreProperties>
</file>